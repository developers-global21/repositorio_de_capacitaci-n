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474" r:id="rId3"/>
    <p:sldId id="477" r:id="rId4"/>
    <p:sldId id="478" r:id="rId5"/>
    <p:sldId id="475" r:id="rId6"/>
    <p:sldId id="479" r:id="rId7"/>
    <p:sldId id="476" r:id="rId8"/>
    <p:sldId id="480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3"/>
    <p:restoredTop sz="95872"/>
  </p:normalViewPr>
  <p:slideViewPr>
    <p:cSldViewPr snapToGrid="0" snapToObjects="1">
      <p:cViewPr varScale="1">
        <p:scale>
          <a:sx n="82" d="100"/>
          <a:sy n="82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D9BCD-3638-EB46-ADED-DE04707B09A3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C7BA5-3838-C04C-A113-31DDC4D156B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688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F6646-7099-3E48-9A4D-F588FA5C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28C87-91FC-D040-AA8C-21892272A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2499D7-6BD7-944E-A890-56252F3E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FB1E2-4B2B-824E-AFFA-84969973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40FEDE-A3D7-1841-85FF-02C08F2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766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D840-545D-9E45-AD3F-1DD0C34A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2696B-C032-A340-A86F-C704C7DA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957FA-57D4-4F47-9E4D-72E6FE7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5BA0C-2CE9-594A-BDC8-F21716F4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E3788-6316-BB43-BEE9-864DE638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46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83D2-0EA2-6044-9744-79BB6CAA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469A4-BBEE-A54F-9B80-A1B94C84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7A91F-60DD-2442-B24C-F96FD8A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A711-C87C-954C-9FA8-03BA321D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0F742-71D8-2742-A4F9-3EA0E3F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66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8FCD5-7033-4142-A89A-6B3B8D28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731E5-B3FE-CB40-B38C-27FD93DD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1A7700-840B-AF4F-BABD-42254A583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662B6-296E-8A45-8BA0-4267F841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0DB57-49E1-294F-B0ED-2616244B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36896B-1BAB-6344-B823-7DB96C6B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34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9473-FBAB-284C-A776-339CAE0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A5204-E17D-614B-9962-C2FB1E02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EDEB0-BD19-BC46-BC55-C310D6578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62DADF-C388-3D4A-8795-1EF7EBA5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A72406-1EF2-2A43-8AA8-76348E3F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6F22E7-92F9-8944-9313-0B350DA1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2440FF-3305-3542-BB2F-B0DF8C27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C4CB84-0424-4846-B1B2-E20CA3C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727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F934-EB2F-AA48-A2F7-7E011471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15F64F-D0C8-904B-9180-3931828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791A4A-C458-C943-BD5D-74A5F244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6310E7-A404-6747-83E8-4C5B63DB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288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8047E7-8230-674A-AE72-92567499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2D6311-F916-9E44-9A81-DE162DB4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868-8FBB-CF44-AE76-5CD53D90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5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4C805-5F97-B548-89AE-76F048FB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BC7A7-0F6C-0D4D-AC67-DC8F0F71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8147BA-870E-DA48-ACDD-F068C337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E4B64-7F66-CE4A-8701-628D2E12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18A2C4-EE40-1645-A89C-9E4DC6CF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B4430-4FC6-8D41-A63B-33A1C752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252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1EA2-46DF-3644-9829-3B2D5CB6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579477-C677-1744-AE8C-9C081ED9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E8BDD-F7B4-0745-A3A8-8EB1955C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AA8F5-777C-5C45-8A4E-B673792D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4E498-08CC-284B-AB42-2214E08A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64459-9BC2-854A-AEEB-EC04AE92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6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81420-860D-C241-B50F-1E4CFC40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A2BC8-0CFB-5C42-8CC1-F582D868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B51E90-73D5-3842-B585-E75A2685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72091-90E1-BD43-9032-A0A8CF88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77E1-04AF-3443-9F4F-E72E1FB1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66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3AE34B-31D7-384F-859C-774FBC0D9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926BC-7517-7545-9CC2-41D64CAE8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0FB5-28DC-5545-9360-AE9606EE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A373DB-9D28-0D4B-8934-1BBCF28F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C7164-9C46-654B-8EFA-D98CAB86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83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42915E-00D2-AD4D-9293-F57852F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1B5C1E-0FCE-6F4A-ACAA-EC6D70FC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48FE2-AE44-BD48-8648-35CFD1B3C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65121-6804-3B48-811F-163480448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E1654-A6F6-2C44-800A-AC0892E34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9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57DB1-4614-5648-9860-93D8E7118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4</a:t>
            </a:r>
            <a:br>
              <a:rPr lang="es-ES" sz="4400" b="1" dirty="0"/>
            </a:br>
            <a:r>
              <a:rPr lang="es-ES" sz="4400" b="1" dirty="0"/>
              <a:t>Proyectos de mejora. </a:t>
            </a:r>
            <a:r>
              <a:rPr lang="es-ES" sz="4400" b="1"/>
              <a:t>Priorización</a:t>
            </a:r>
            <a:endParaRPr lang="es-ES" sz="44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0374E1-7240-0B47-9838-20D6564EC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2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Qué es priorizar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s-CL" dirty="0"/>
              <a:t>Priorizar es clasificar las actividades/proyectos/iniciativas en orden de importancia sobre la base de la capacidad o conveniencia para llevarlos a cabo.</a:t>
            </a:r>
          </a:p>
          <a:p>
            <a:pPr marL="0" indent="0">
              <a:buNone/>
            </a:pPr>
            <a:r>
              <a:rPr lang="es-CL" dirty="0"/>
              <a:t>La priorización de proyectos es una actividad que debe esar presente en toda organización, ya que establece un orden en modo jerárquico de los proyectos.</a:t>
            </a:r>
          </a:p>
          <a:p>
            <a:pPr marL="0" indent="0">
              <a:buNone/>
            </a:pPr>
            <a:r>
              <a:rPr lang="es-CL" dirty="0"/>
              <a:t>Establecer prioridades es fundamental porque garantiza que los proyectos más importantes tendrán los recursos (monetarios, humanos, materiales, etc.) necesarios para su correcta ejecución.</a:t>
            </a:r>
          </a:p>
        </p:txBody>
      </p:sp>
    </p:spTree>
    <p:extLst>
      <p:ext uri="{BB962C8B-B14F-4D97-AF65-F5344CB8AC3E}">
        <p14:creationId xmlns:p14="http://schemas.microsoft.com/office/powerpoint/2010/main" val="1420212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Ventajas de priorizar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s-CL" dirty="0"/>
              <a:t>Aumenta las tasas de éxito de los proyectos estratégicos.</a:t>
            </a:r>
          </a:p>
          <a:p>
            <a:pPr marL="514350" indent="-514350">
              <a:buAutoNum type="arabicPeriod"/>
            </a:pPr>
            <a:r>
              <a:rPr lang="es-CL" dirty="0"/>
              <a:t>Incrementa la alineación y el enfoque de los equipos en torno a los objetivos estratégicos.</a:t>
            </a:r>
          </a:p>
          <a:p>
            <a:pPr marL="514350" indent="-514350">
              <a:buAutoNum type="arabicPeriod"/>
            </a:pPr>
            <a:r>
              <a:rPr lang="es-CL" dirty="0"/>
              <a:t>Despeja las dudas de los equipos operacionales cuando se enfrentan a decisiones.</a:t>
            </a:r>
          </a:p>
          <a:p>
            <a:pPr marL="514350" indent="-514350">
              <a:buAutoNum type="arabicPeriod"/>
            </a:pPr>
            <a:r>
              <a:rPr lang="es-CL" dirty="0"/>
              <a:t>Crea una mentalidad y cultura de ejecución.</a:t>
            </a:r>
          </a:p>
          <a:p>
            <a:pPr marL="0" lv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11074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Ventajas de priorizar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s-CL" dirty="0"/>
              <a:t>Harvard Business Review</a:t>
            </a:r>
            <a:r>
              <a:rPr lang="es-CL" baseline="30000" dirty="0"/>
              <a:t>1</a:t>
            </a:r>
            <a:r>
              <a:rPr lang="es-CL" dirty="0"/>
              <a:t> propone la llamada Jerarquía de Propósito. Consiste en una herramienta que los equipos ejecutivos pueden emplear para priorizar iniciativas y proyectos estratégicos. Se basa en los siguientes criterios:</a:t>
            </a:r>
          </a:p>
          <a:p>
            <a:pPr marL="514350" lvl="0" indent="-514350">
              <a:buAutoNum type="arabicPeriod"/>
            </a:pPr>
            <a:r>
              <a:rPr lang="es-CL" dirty="0"/>
              <a:t>Propósito. ¿Cuál es el propósito de la organización y cómo se lo persigue? ¿Cuál es la visión estratégica que apoya este propósito?</a:t>
            </a:r>
          </a:p>
          <a:p>
            <a:pPr marL="514350" lvl="0" indent="-514350">
              <a:buAutoNum type="arabicPeriod"/>
            </a:pPr>
            <a:r>
              <a:rPr lang="es-CL" dirty="0"/>
              <a:t>Prioridades. Dado el propósito y la visión establecidos, ¿qué es lo más importante para la empresa ahora y en el futuro? ¿Cuáles son sus prioridades ahora y en los próximos dos a cinco años?</a:t>
            </a:r>
          </a:p>
          <a:p>
            <a:pPr marL="514350" lvl="0" indent="-514350">
              <a:buAutoNum type="arabicPeriod"/>
            </a:pPr>
            <a:r>
              <a:rPr lang="es-CL" dirty="0"/>
              <a:t>Proyectos. Sobre la base de las respuestas a los dos primeros puntos, ¿qué proyectos son los más estratégicos y deberían ser financiados al máximo? ¿Qué proyectos se alinean con el propósito, la visión y las prioridades, y cuáles deben detenerse o desecharse?</a:t>
            </a:r>
          </a:p>
          <a:p>
            <a:pPr marL="514350" lvl="0" indent="-514350">
              <a:buAutoNum type="arabicPeriod"/>
            </a:pPr>
            <a:r>
              <a:rPr lang="es-CL" dirty="0"/>
              <a:t>Personas. Ahora que hay claridad en torno a las prioridades estratégicas y los proyectos que más importan, ¿quiénes son las mejores personas para ejecutar esos proyectos?</a:t>
            </a:r>
          </a:p>
          <a:p>
            <a:pPr marL="514350" lvl="0" indent="-514350">
              <a:buAutoNum type="arabicPeriod"/>
            </a:pPr>
            <a:r>
              <a:rPr lang="es-CL" dirty="0"/>
              <a:t>Performance. ¿Cuáles son los objetivos precisos relacionados con los resultados que medirán el desempeño real y la creación de valor? Aquí, una compañía puede basarse en los indicadores de desempeño vinculados a los insumos (por ejemplo, alcance, costo y tiempo) o a los productos (como los beneficios, el impacto y los objetivos).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29E442-A431-AB4C-ADB6-D12EE3B59B04}"/>
              </a:ext>
            </a:extLst>
          </p:cNvPr>
          <p:cNvSpPr/>
          <p:nvPr/>
        </p:nvSpPr>
        <p:spPr>
          <a:xfrm>
            <a:off x="1012721" y="6123543"/>
            <a:ext cx="87802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200" dirty="0"/>
              <a:t>1 https://hbr.org/2016/12/how-to-prioritize-your-companys-projects</a:t>
            </a:r>
          </a:p>
        </p:txBody>
      </p:sp>
    </p:spTree>
    <p:extLst>
      <p:ext uri="{BB962C8B-B14F-4D97-AF65-F5344CB8AC3E}">
        <p14:creationId xmlns:p14="http://schemas.microsoft.com/office/powerpoint/2010/main" val="234153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Las Oportunidades de Mejora y cómo priorizar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dirty="0"/>
              <a:t>Existen diferentes metodologías para priorizar entre proyectos de mejora.</a:t>
            </a:r>
          </a:p>
          <a:p>
            <a:pPr marL="0" indent="0">
              <a:buNone/>
            </a:pPr>
            <a:r>
              <a:rPr lang="es-ES" dirty="0"/>
              <a:t>Se trata de elegir una simple que</a:t>
            </a:r>
            <a:r>
              <a:rPr lang="es-CL" dirty="0"/>
              <a:t> permita una priorización del conjunto de proyectos de mejora desde las perspectivas de mayor interés del Gobierno Regional.</a:t>
            </a:r>
          </a:p>
          <a:p>
            <a:pPr marL="0" indent="0">
              <a:buNone/>
            </a:pPr>
            <a:r>
              <a:rPr lang="es-CL" dirty="0"/>
              <a:t>Se busca con ello clasificar y priorizar proyectos de mejora de diverso tipo, en el ámbito geográfico regional, basándose en criterios e indicadores objetivables. </a:t>
            </a:r>
          </a:p>
          <a:p>
            <a:pPr marL="0" indent="0">
              <a:buNone/>
            </a:pPr>
            <a:r>
              <a:rPr lang="es-CL" dirty="0"/>
              <a:t>Se trata de construir un ránking de posibles proyectos de mejora, levantados a partir del Informe de Autoevaluación y del Informe de Retroalimentación.</a:t>
            </a:r>
          </a:p>
          <a:p>
            <a:pPr marL="0" indent="0">
              <a:buNone/>
            </a:pPr>
            <a:r>
              <a:rPr lang="es-CL" dirty="0"/>
              <a:t>Se utilizará la Matriz de Priorización.</a:t>
            </a:r>
          </a:p>
        </p:txBody>
      </p:sp>
    </p:spTree>
    <p:extLst>
      <p:ext uri="{BB962C8B-B14F-4D97-AF65-F5344CB8AC3E}">
        <p14:creationId xmlns:p14="http://schemas.microsoft.com/office/powerpoint/2010/main" val="346905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Priorización de Oportunidades de Mejora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6499F74-9723-2B48-8F6F-9105ABC65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L" dirty="0"/>
              <a:t>Paso 1: Nuestro objetivo es construir un ránking entre diferentes proyectos de mejora.</a:t>
            </a:r>
          </a:p>
          <a:p>
            <a:pPr marL="0" indent="0">
              <a:buNone/>
            </a:pPr>
            <a:r>
              <a:rPr lang="es-CL" dirty="0"/>
              <a:t>Paso 2: Mediante proceso participativo y lluvia de ideas se definen opciones de proyectos de mejora.</a:t>
            </a:r>
          </a:p>
          <a:p>
            <a:pPr marL="0" indent="0">
              <a:buNone/>
            </a:pPr>
            <a:r>
              <a:rPr lang="es-CL" dirty="0"/>
              <a:t>Paso 3: Mediante proceso participativo se definen los criterios para construir el ránking.</a:t>
            </a:r>
          </a:p>
          <a:p>
            <a:pPr marL="0" indent="0">
              <a:buNone/>
            </a:pPr>
            <a:r>
              <a:rPr lang="es-CL" dirty="0"/>
              <a:t>Paso 4: Mediante proceso participativo se define el peso relativo de los criterios de priorización.</a:t>
            </a:r>
          </a:p>
          <a:p>
            <a:pPr marL="0" indent="0">
              <a:buNone/>
            </a:pPr>
            <a:r>
              <a:rPr lang="es-CL" dirty="0"/>
              <a:t>Paso 5: Se pone puntuación a cada criterio para cada proyecto de mejora.</a:t>
            </a:r>
          </a:p>
          <a:p>
            <a:pPr marL="0" indent="0">
              <a:buNone/>
            </a:pPr>
            <a:r>
              <a:rPr lang="es-CL" dirty="0"/>
              <a:t>Paso 6: Se multiplica el peso relativo por la puntuación del factor (esto se hace para cada factor de cada proyecto de mejora)</a:t>
            </a:r>
          </a:p>
          <a:p>
            <a:pPr marL="0" indent="0">
              <a:buNone/>
            </a:pPr>
            <a:r>
              <a:rPr lang="es-CL" dirty="0"/>
              <a:t>Paso 7: Se clasifican los proyectos de mejora de acuerdo al resultado final.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7691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de Oportunidades de Mejora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ES" dirty="0"/>
              <a:t>Actualización Planificación Estratégica Institucional</a:t>
            </a:r>
          </a:p>
          <a:p>
            <a:pPr lvl="0"/>
            <a:r>
              <a:rPr lang="es-ES" dirty="0"/>
              <a:t>Elaboración de metodología de medición de percepción y satisfacción de los proyectos y programas realizados por el Gore</a:t>
            </a:r>
          </a:p>
          <a:p>
            <a:pPr lvl="0"/>
            <a:r>
              <a:rPr lang="es-ES" dirty="0"/>
              <a:t>Elaboración de procedimiento de gestión del desempeño de las personas y modificación del reglamento especial de calificaciones</a:t>
            </a:r>
          </a:p>
          <a:p>
            <a:pPr lvl="0"/>
            <a:r>
              <a:rPr lang="es-ES" dirty="0"/>
              <a:t>Estudio de conflictos socio-ambientales y de cargas ambientales en el territorio regional</a:t>
            </a:r>
          </a:p>
          <a:p>
            <a:pPr lvl="0"/>
            <a:r>
              <a:rPr lang="es-ES" dirty="0"/>
              <a:t>Reingeniería organizacional de la estructura y de funciones para enfrentar los desafíos de la implementación de Ley de Fortalecimiento de la Regionalización</a:t>
            </a:r>
          </a:p>
          <a:p>
            <a:pPr lvl="0"/>
            <a:r>
              <a:rPr lang="es-ES" dirty="0"/>
              <a:t>Estudio para evaluar la percepción de la ciudadanía respecto de temas de interés definidos por el GORE </a:t>
            </a:r>
          </a:p>
          <a:p>
            <a:pPr lvl="0"/>
            <a:r>
              <a:rPr lang="es-ES" dirty="0"/>
              <a:t>Instrumento de evaluación para determinar las zonas rezagadas en la región y su respectivo plan de desarrollo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0569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de uso de Matriz de Priorización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744E57-298B-A749-9E0D-EED080EA9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0" y="1690688"/>
            <a:ext cx="12111380" cy="46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355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747</Words>
  <Application>Microsoft Macintosh PowerPoint</Application>
  <PresentationFormat>Panorámica</PresentationFormat>
  <Paragraphs>41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Sesión 4 Proyectos de mejora. Priorización</vt:lpstr>
      <vt:lpstr>Qué es priorizar</vt:lpstr>
      <vt:lpstr>Ventajas de priorizar</vt:lpstr>
      <vt:lpstr>Ventajas de priorizar</vt:lpstr>
      <vt:lpstr>Las Oportunidades de Mejora y cómo priorizar</vt:lpstr>
      <vt:lpstr>Priorización de Oportunidades de Mejora</vt:lpstr>
      <vt:lpstr>Ejemplo de Oportunidades de Mejora</vt:lpstr>
      <vt:lpstr>Ejemplo de uso de Matriz de Priorización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Determinación del Foco Estratégico </dc:title>
  <dc:creator>Orlando Olivera</dc:creator>
  <cp:lastModifiedBy>Orlando Olivera</cp:lastModifiedBy>
  <cp:revision>16</cp:revision>
  <dcterms:created xsi:type="dcterms:W3CDTF">2020-10-11T19:30:31Z</dcterms:created>
  <dcterms:modified xsi:type="dcterms:W3CDTF">2020-10-12T01:35:42Z</dcterms:modified>
</cp:coreProperties>
</file>